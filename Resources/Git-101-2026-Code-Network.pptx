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41806-7ABC-45DA-8101-55F562D0453E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D9944-53AA-4778-B3E8-74CC4824C2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383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D9944-53AA-4778-B3E8-74CC4824C21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784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r>
              <a:rPr lang="en-AU" dirty="0"/>
              <a:t>Code Network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r>
              <a:rPr lang="en-AU" dirty="0"/>
              <a:t>Git 101 by Angus Wong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019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/>
              <a:t>Code Network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Git 101 by Angus Wong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591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0ED929-2C6E-4D24-8385-38FB53FD6D56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135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/>
              <a:t>Code Network 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Git 101 by Angus Wong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909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/>
              <a:t>Code Network 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Git 101 by Angus Wong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99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/>
              <a:t>Code Network 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Git 101 by Angus Wong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8030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/>
              <a:t>Code Network 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Git 101 by Angus Wong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76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dirty="0"/>
              <a:t>Code Network 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Git 101 by Angus Wong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3358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ED929-2C6E-4D24-8385-38FB53FD6D56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47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ED929-2C6E-4D24-8385-38FB53FD6D56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3704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0ED929-2C6E-4D24-8385-38FB53FD6D56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0112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0ED929-2C6E-4D24-8385-38FB53FD6D56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7936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0ED929-2C6E-4D24-8385-38FB53FD6D56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2203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ED929-2C6E-4D24-8385-38FB53FD6D56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454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ED929-2C6E-4D24-8385-38FB53FD6D56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66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ED929-2C6E-4D24-8385-38FB53FD6D56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9430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E0ED929-2C6E-4D24-8385-38FB53FD6D56}" type="datetimeFigureOut">
              <a:rPr lang="en-AU" smtClean="0"/>
              <a:t>28/02/2026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29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dirty="0"/>
              <a:t>Code Network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dirty="0"/>
              <a:t>Git 101 by Angus Wong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73BDD-5DD5-4E03-98D5-AA8F5F18C5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72315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network.github.io/git-101-2026/" TargetMode="External"/><Relationship Id="rId2" Type="http://schemas.openxmlformats.org/officeDocument/2006/relationships/hyperlink" Target="https://github.com/codenetwork/git-101-202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489F-7642-9371-E653-AAA71D872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Git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FC0B3-DA4D-1E89-9E71-2121C6A4F4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By Angus Wong</a:t>
            </a:r>
          </a:p>
          <a:p>
            <a:r>
              <a:rPr lang="en-AU" dirty="0"/>
              <a:t>Code Network 2026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08B530A-4C4F-4F96-AE37-4BD1AEFA9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170747"/>
            <a:ext cx="4030963" cy="251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44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BAB4-8593-384E-4329-C9F5B0C3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A940-A47B-D9B4-36D9-5A8A10528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Introduction to Git</a:t>
            </a:r>
          </a:p>
          <a:p>
            <a:r>
              <a:rPr lang="en-AU" dirty="0"/>
              <a:t>Git vs GitHub/GitLab/</a:t>
            </a:r>
            <a:r>
              <a:rPr lang="en-AU" dirty="0" err="1"/>
              <a:t>BitBucket</a:t>
            </a:r>
            <a:endParaRPr lang="en-AU" dirty="0"/>
          </a:p>
          <a:p>
            <a:r>
              <a:rPr lang="en-AU" dirty="0"/>
              <a:t>Common Git Operations</a:t>
            </a:r>
          </a:p>
          <a:p>
            <a:r>
              <a:rPr lang="en-AU" dirty="0"/>
              <a:t>How to collaborate on Git</a:t>
            </a:r>
          </a:p>
          <a:p>
            <a:r>
              <a:rPr lang="en-AU" dirty="0"/>
              <a:t>Hands on </a:t>
            </a:r>
            <a:r>
              <a:rPr lang="en-AU" dirty="0" err="1"/>
              <a:t>execise</a:t>
            </a:r>
            <a:endParaRPr lang="en-AU" dirty="0"/>
          </a:p>
        </p:txBody>
      </p:sp>
      <p:pic>
        <p:nvPicPr>
          <p:cNvPr id="8194" name="Picture 2" descr="github - Me using git - devRant">
            <a:extLst>
              <a:ext uri="{FF2B5EF4-FFF2-40B4-BE49-F238E27FC236}">
                <a16:creationId xmlns:a16="http://schemas.microsoft.com/office/drawing/2014/main" id="{D0AAD88D-6D30-929D-B15C-8AB222746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715" y="1974982"/>
            <a:ext cx="2822923" cy="237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Meme Git Compilation | by Lulu Ilmaknun Qurotaini | Medium">
            <a:extLst>
              <a:ext uri="{FF2B5EF4-FFF2-40B4-BE49-F238E27FC236}">
                <a16:creationId xmlns:a16="http://schemas.microsoft.com/office/drawing/2014/main" id="{29E309C8-EFD2-FF14-EBAE-E4397AF86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9646" y="1974982"/>
            <a:ext cx="2370690" cy="237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Git push force 💥 : r/ProgrammerHumor">
            <a:extLst>
              <a:ext uri="{FF2B5EF4-FFF2-40B4-BE49-F238E27FC236}">
                <a16:creationId xmlns:a16="http://schemas.microsoft.com/office/drawing/2014/main" id="{76DEE910-F57F-1AAB-9EC7-6B115215C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218" y="4482831"/>
            <a:ext cx="2519363" cy="231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Git branch? (Original Meme) — Steemit">
            <a:extLst>
              <a:ext uri="{FF2B5EF4-FFF2-40B4-BE49-F238E27FC236}">
                <a16:creationId xmlns:a16="http://schemas.microsoft.com/office/drawing/2014/main" id="{0E59A3C9-CF4A-2927-9A41-54C150D05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303" y="4761662"/>
            <a:ext cx="261937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464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F53AC-8CD0-5E6E-F8C1-BA4B4E08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DCAC4-B423-A25B-94B1-392937433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Version control software tools have existed since 1960s</a:t>
            </a:r>
          </a:p>
          <a:p>
            <a:r>
              <a:rPr lang="en-AU" dirty="0"/>
              <a:t>Git is one of the most popular version control systems in the world</a:t>
            </a:r>
          </a:p>
          <a:p>
            <a:r>
              <a:rPr lang="en-AU" dirty="0"/>
              <a:t>Developed by Linus Torvalds (yes, that guy) in 2005 as an open-source version control software to be used on Linux</a:t>
            </a:r>
          </a:p>
          <a:p>
            <a:r>
              <a:rPr lang="en-AU" dirty="0"/>
              <a:t>Saves snapshot of all files inside a repository (folder)</a:t>
            </a:r>
          </a:p>
          <a:p>
            <a:r>
              <a:rPr lang="en-AU" dirty="0"/>
              <a:t>Allows programmers to view history and checkout</a:t>
            </a:r>
            <a:br>
              <a:rPr lang="en-AU" dirty="0"/>
            </a:br>
            <a:r>
              <a:rPr lang="en-AU" dirty="0"/>
              <a:t>the files’ contents from any saved commits (version)</a:t>
            </a:r>
          </a:p>
        </p:txBody>
      </p:sp>
      <p:pic>
        <p:nvPicPr>
          <p:cNvPr id="1026" name="Picture 2" descr="What is Git? -">
            <a:extLst>
              <a:ext uri="{FF2B5EF4-FFF2-40B4-BE49-F238E27FC236}">
                <a16:creationId xmlns:a16="http://schemas.microsoft.com/office/drawing/2014/main" id="{AF30C93B-1F5E-5785-0953-54B30D7EE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147" y="548348"/>
            <a:ext cx="2505909" cy="150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The image depicts a minimalistic illustration of a tree with blue, interconnected nodes, floating against a cloudy sky, with small, white dots sprinkled around.&#10;&#10;AI-generated content may be incorrect.">
            <a:extLst>
              <a:ext uri="{FF2B5EF4-FFF2-40B4-BE49-F238E27FC236}">
                <a16:creationId xmlns:a16="http://schemas.microsoft.com/office/drawing/2014/main" id="{516E09DB-F07F-E397-A8D2-A8F3F117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551" y="3884341"/>
            <a:ext cx="4002258" cy="225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2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67EE-83C1-CC87-B96A-66A20DC5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Git vs </a:t>
            </a:r>
            <a:r>
              <a:rPr lang="en-AU" dirty="0" err="1"/>
              <a:t>github</a:t>
            </a:r>
            <a:r>
              <a:rPr lang="en-AU" dirty="0"/>
              <a:t>/</a:t>
            </a:r>
            <a:r>
              <a:rPr lang="en-AU" dirty="0" err="1"/>
              <a:t>gitlab</a:t>
            </a:r>
            <a:r>
              <a:rPr lang="en-AU" dirty="0"/>
              <a:t>/bitbucket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2F8CD-4C3F-9D85-E9CC-EB0034C98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Git is a version control software. You can install Git on your computer</a:t>
            </a:r>
          </a:p>
          <a:p>
            <a:r>
              <a:rPr lang="en-AU" dirty="0"/>
              <a:t>GitHub/GitLab/</a:t>
            </a:r>
            <a:r>
              <a:rPr lang="en-AU" dirty="0" err="1"/>
              <a:t>BitBucket</a:t>
            </a:r>
            <a:r>
              <a:rPr lang="en-AU" dirty="0"/>
              <a:t> are collaborative version control platforms that use Git for distributed version control</a:t>
            </a:r>
          </a:p>
          <a:p>
            <a:r>
              <a:rPr lang="en-AU" dirty="0"/>
              <a:t>Git = File Explorer, GitHub = OneDrive/SharePoint</a:t>
            </a:r>
          </a:p>
          <a:p>
            <a:r>
              <a:rPr lang="en-AU" dirty="0"/>
              <a:t>You can download an entire folder (repo) from a remote</a:t>
            </a:r>
            <a:br>
              <a:rPr lang="en-AU" dirty="0"/>
            </a:br>
            <a:r>
              <a:rPr lang="en-AU" dirty="0"/>
              <a:t>(</a:t>
            </a:r>
            <a:r>
              <a:rPr lang="en-AU" dirty="0">
                <a:solidFill>
                  <a:srgbClr val="FF0000"/>
                </a:solidFill>
              </a:rPr>
              <a:t>git clone</a:t>
            </a:r>
            <a:r>
              <a:rPr lang="en-AU" dirty="0"/>
              <a:t>)</a:t>
            </a:r>
          </a:p>
          <a:p>
            <a:r>
              <a:rPr lang="en-AU" dirty="0"/>
              <a:t>You can save the file history on your local Git, </a:t>
            </a:r>
            <a:br>
              <a:rPr lang="en-AU" dirty="0"/>
            </a:br>
            <a:r>
              <a:rPr lang="en-AU" dirty="0"/>
              <a:t>then upload them (</a:t>
            </a:r>
            <a:r>
              <a:rPr lang="en-AU" dirty="0">
                <a:solidFill>
                  <a:srgbClr val="FF0000"/>
                </a:solidFill>
              </a:rPr>
              <a:t>git push</a:t>
            </a:r>
            <a:r>
              <a:rPr lang="en-AU" dirty="0"/>
              <a:t>) to the remote</a:t>
            </a:r>
          </a:p>
          <a:p>
            <a:r>
              <a:rPr lang="en-AU" dirty="0"/>
              <a:t>You can also get the remote history only (</a:t>
            </a:r>
            <a:r>
              <a:rPr lang="en-AU" dirty="0">
                <a:solidFill>
                  <a:srgbClr val="FF0000"/>
                </a:solidFill>
              </a:rPr>
              <a:t>git fetch</a:t>
            </a:r>
            <a:r>
              <a:rPr lang="en-AU" dirty="0"/>
              <a:t>), </a:t>
            </a:r>
            <a:br>
              <a:rPr lang="en-AU" dirty="0"/>
            </a:br>
            <a:r>
              <a:rPr lang="en-AU" dirty="0"/>
              <a:t>or download the latest file changes from the remote (</a:t>
            </a:r>
            <a:r>
              <a:rPr lang="en-AU" dirty="0">
                <a:solidFill>
                  <a:srgbClr val="FF0000"/>
                </a:solidFill>
              </a:rPr>
              <a:t>git pull</a:t>
            </a:r>
            <a:r>
              <a:rPr lang="en-AU" dirty="0"/>
              <a:t>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FB09B02-9D4C-F951-FE63-C70A93D3F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47" y="825774"/>
            <a:ext cx="3005797" cy="117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chematic showing the GitHub workflow with local and remote repos.">
            <a:extLst>
              <a:ext uri="{FF2B5EF4-FFF2-40B4-BE49-F238E27FC236}">
                <a16:creationId xmlns:a16="http://schemas.microsoft.com/office/drawing/2014/main" id="{21BCDA51-4BC0-5DF4-B6F5-DB5DBC59D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193" y="3624395"/>
            <a:ext cx="2731449" cy="273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244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C00E-D05E-A7F3-37B2-E39FE9A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AU" dirty="0"/>
              <a:t>Local git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2648-E244-88DA-65F9-794750728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r>
              <a:rPr lang="en-AU" dirty="0"/>
              <a:t>Working Directory: Your local folder</a:t>
            </a:r>
          </a:p>
          <a:p>
            <a:r>
              <a:rPr lang="en-AU" dirty="0"/>
              <a:t>Staging Area: Contains file changes to be saved (committed)</a:t>
            </a:r>
          </a:p>
          <a:p>
            <a:r>
              <a:rPr lang="en-AU" dirty="0"/>
              <a:t>Repository: Saved change history</a:t>
            </a:r>
          </a:p>
          <a:p>
            <a:r>
              <a:rPr lang="en-AU" dirty="0">
                <a:solidFill>
                  <a:srgbClr val="FF0000"/>
                </a:solidFill>
              </a:rPr>
              <a:t>git add &lt;filename&gt;</a:t>
            </a:r>
            <a:r>
              <a:rPr lang="en-AU" dirty="0"/>
              <a:t>: Tells git we want to save these changes</a:t>
            </a:r>
          </a:p>
          <a:p>
            <a:r>
              <a:rPr lang="en-AU" dirty="0">
                <a:solidFill>
                  <a:srgbClr val="FF0000"/>
                </a:solidFill>
              </a:rPr>
              <a:t>git commit</a:t>
            </a:r>
            <a:r>
              <a:rPr lang="en-AU" dirty="0"/>
              <a:t>: Tells git to save the changes from the staging area</a:t>
            </a:r>
          </a:p>
          <a:p>
            <a:r>
              <a:rPr lang="en-AU" dirty="0">
                <a:solidFill>
                  <a:srgbClr val="FF0000"/>
                </a:solidFill>
              </a:rPr>
              <a:t>git checkout &lt;commit-id&gt;</a:t>
            </a:r>
            <a:r>
              <a:rPr lang="en-AU" dirty="0"/>
              <a:t>: Look at the working directory’s state from a commit</a:t>
            </a:r>
          </a:p>
        </p:txBody>
      </p:sp>
      <p:pic>
        <p:nvPicPr>
          <p:cNvPr id="3074" name="Picture 2" descr="Git — all the basic concepts. Learn essential Git commands —… | by Ihor  Lukianov | Medium">
            <a:extLst>
              <a:ext uri="{FF2B5EF4-FFF2-40B4-BE49-F238E27FC236}">
                <a16:creationId xmlns:a16="http://schemas.microsoft.com/office/drawing/2014/main" id="{C3B62F7A-6CA3-AA1D-2C70-5D467D2D5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1" b="5"/>
          <a:stretch>
            <a:fillRect/>
          </a:stretch>
        </p:blipFill>
        <p:spPr bwMode="auto">
          <a:xfrm>
            <a:off x="6985000" y="2501159"/>
            <a:ext cx="4521200" cy="341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212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F505-87B6-5E42-5DD9-E3F6A9BB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AU" dirty="0"/>
              <a:t>Remote git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9DCC0-AF55-8A00-3E0E-B59D9BAC1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git clone &lt;repo-</a:t>
            </a:r>
            <a:r>
              <a:rPr lang="en-AU" dirty="0" err="1">
                <a:solidFill>
                  <a:srgbClr val="FF0000"/>
                </a:solidFill>
              </a:rPr>
              <a:t>url</a:t>
            </a:r>
            <a:r>
              <a:rPr lang="en-AU" dirty="0">
                <a:solidFill>
                  <a:srgbClr val="FF0000"/>
                </a:solidFill>
              </a:rPr>
              <a:t>&gt;</a:t>
            </a:r>
            <a:r>
              <a:rPr lang="en-AU" dirty="0"/>
              <a:t>: Downloads remote repo (including working directory) to your computer</a:t>
            </a:r>
          </a:p>
          <a:p>
            <a:r>
              <a:rPr lang="en-AU" dirty="0">
                <a:solidFill>
                  <a:srgbClr val="FF0000"/>
                </a:solidFill>
              </a:rPr>
              <a:t>git push</a:t>
            </a:r>
            <a:r>
              <a:rPr lang="en-AU" dirty="0"/>
              <a:t>: Uploads commits that only exist on your local git to the remote</a:t>
            </a:r>
          </a:p>
          <a:p>
            <a:r>
              <a:rPr lang="en-AU" dirty="0">
                <a:solidFill>
                  <a:srgbClr val="FF0000"/>
                </a:solidFill>
              </a:rPr>
              <a:t>git fetch</a:t>
            </a:r>
            <a:r>
              <a:rPr lang="en-AU" dirty="0"/>
              <a:t>: Updates your local repo with the history from the remote (working directory unchanged)</a:t>
            </a:r>
          </a:p>
          <a:p>
            <a:r>
              <a:rPr lang="en-AU" dirty="0">
                <a:solidFill>
                  <a:srgbClr val="FF0000"/>
                </a:solidFill>
              </a:rPr>
              <a:t>git pull</a:t>
            </a:r>
            <a:r>
              <a:rPr lang="en-AU" dirty="0"/>
              <a:t>: Does a </a:t>
            </a:r>
            <a:r>
              <a:rPr lang="en-AU" dirty="0">
                <a:solidFill>
                  <a:srgbClr val="FF0000"/>
                </a:solidFill>
              </a:rPr>
              <a:t>git fetch</a:t>
            </a:r>
            <a:r>
              <a:rPr lang="en-AU" dirty="0"/>
              <a:t>, then </a:t>
            </a:r>
            <a:r>
              <a:rPr lang="en-AU" dirty="0">
                <a:solidFill>
                  <a:srgbClr val="FF0000"/>
                </a:solidFill>
              </a:rPr>
              <a:t>git checkout</a:t>
            </a:r>
            <a:r>
              <a:rPr lang="en-AU" dirty="0"/>
              <a:t> the latest commit from remote (working directory will change)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7DE86E9-3FF2-5318-8615-E52EADD81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40"/>
          <a:stretch>
            <a:fillRect/>
          </a:stretch>
        </p:blipFill>
        <p:spPr bwMode="auto">
          <a:xfrm>
            <a:off x="6985000" y="2501159"/>
            <a:ext cx="4521200" cy="341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25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F8B30-6238-9B8A-B27A-5AEBC608E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AU" dirty="0"/>
              <a:t>Branching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55613-7C0D-66A5-4498-B33BC6CC5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Branching allows for multiple developers to work on the same repo without interfering with each other’s work</a:t>
            </a:r>
          </a:p>
          <a:p>
            <a:r>
              <a:rPr lang="en-AU" dirty="0"/>
              <a:t>Branches can be merged which will combine their changes and histories</a:t>
            </a:r>
          </a:p>
          <a:p>
            <a:r>
              <a:rPr lang="en-AU" dirty="0"/>
              <a:t>On remote Git platforms, you can create a </a:t>
            </a:r>
            <a:r>
              <a:rPr lang="en-AU" dirty="0">
                <a:solidFill>
                  <a:srgbClr val="FF0000"/>
                </a:solidFill>
              </a:rPr>
              <a:t>Pull Request (PR) </a:t>
            </a:r>
            <a:r>
              <a:rPr lang="en-AU" dirty="0"/>
              <a:t>which is a request to merge a branch into another</a:t>
            </a:r>
          </a:p>
          <a:p>
            <a:r>
              <a:rPr lang="en-AU" dirty="0">
                <a:solidFill>
                  <a:srgbClr val="FF0000"/>
                </a:solidFill>
              </a:rPr>
              <a:t>git branch &lt;branch-name&gt;</a:t>
            </a:r>
            <a:r>
              <a:rPr lang="en-AU" dirty="0"/>
              <a:t>: Creates branch</a:t>
            </a:r>
          </a:p>
          <a:p>
            <a:r>
              <a:rPr lang="en-AU" dirty="0">
                <a:solidFill>
                  <a:srgbClr val="FF0000"/>
                </a:solidFill>
              </a:rPr>
              <a:t>git checkout –b &lt;branch-name&gt;</a:t>
            </a:r>
            <a:r>
              <a:rPr lang="en-AU" dirty="0"/>
              <a:t>: Checks out your working directory to that branch</a:t>
            </a:r>
          </a:p>
          <a:p>
            <a:r>
              <a:rPr lang="en-AU" dirty="0">
                <a:solidFill>
                  <a:srgbClr val="FF0000"/>
                </a:solidFill>
              </a:rPr>
              <a:t>git merge &lt;source-branch-name&gt;</a:t>
            </a:r>
            <a:r>
              <a:rPr lang="en-AU" dirty="0"/>
              <a:t>: Merges the changes and history of the source branch into your current branch</a:t>
            </a:r>
          </a:p>
        </p:txBody>
      </p:sp>
      <p:pic>
        <p:nvPicPr>
          <p:cNvPr id="5124" name="Picture 4" descr="The Ultimate Guide to Git Branching Strategies | by Prateek Jain | Medium">
            <a:extLst>
              <a:ext uri="{FF2B5EF4-FFF2-40B4-BE49-F238E27FC236}">
                <a16:creationId xmlns:a16="http://schemas.microsoft.com/office/drawing/2014/main" id="{ABCE8A0B-B8B6-ABC3-FD86-698DA5429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5000" y="2849086"/>
            <a:ext cx="4521200" cy="248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909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5889-B6EC-7096-F7BF-97BB90478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" y="764373"/>
            <a:ext cx="6832600" cy="1293028"/>
          </a:xfrm>
        </p:spPr>
        <p:txBody>
          <a:bodyPr>
            <a:normAutofit/>
          </a:bodyPr>
          <a:lstStyle/>
          <a:p>
            <a:r>
              <a:rPr lang="en-AU"/>
              <a:t>Forking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3639D-DFAD-FF1D-569B-9EE24211E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60" y="1723291"/>
            <a:ext cx="6832600" cy="4024125"/>
          </a:xfrm>
        </p:spPr>
        <p:txBody>
          <a:bodyPr>
            <a:normAutofit/>
          </a:bodyPr>
          <a:lstStyle/>
          <a:p>
            <a:r>
              <a:rPr lang="en-AU" dirty="0"/>
              <a:t>Forking is available on remote Git platforms</a:t>
            </a:r>
          </a:p>
          <a:p>
            <a:r>
              <a:rPr lang="en-AU" dirty="0"/>
              <a:t>Forking creates a copy of the original repo under your control</a:t>
            </a:r>
          </a:p>
          <a:p>
            <a:r>
              <a:rPr lang="en-AU" dirty="0"/>
              <a:t>Make changes and push to your fork, then create a Pull Request to the original repo</a:t>
            </a:r>
          </a:p>
        </p:txBody>
      </p:sp>
      <p:pic>
        <p:nvPicPr>
          <p:cNvPr id="6146" name="Picture 2" descr="Difference Between Fork and Branch | Difference Between | Fork vs Branch">
            <a:extLst>
              <a:ext uri="{FF2B5EF4-FFF2-40B4-BE49-F238E27FC236}">
                <a16:creationId xmlns:a16="http://schemas.microsoft.com/office/drawing/2014/main" id="{BF433B8C-8AF7-B95C-6397-624BFE55B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1238" y="1052430"/>
            <a:ext cx="3644962" cy="485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The image displays a GitHub pull request page with a code comparison between two branches, showing a change in the author's name from 'Angus Wong' to 'Corey McCormick'.&#10;&#10;AI-generated content may be incorrect.">
            <a:extLst>
              <a:ext uri="{FF2B5EF4-FFF2-40B4-BE49-F238E27FC236}">
                <a16:creationId xmlns:a16="http://schemas.microsoft.com/office/drawing/2014/main" id="{4462114E-95FF-0D31-F2A7-9A5F447FC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73" y="3574925"/>
            <a:ext cx="7434909" cy="313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26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E0DA-69C4-6E3C-A90E-C220E3C5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59331-6FA7-C7A7-730B-58CD2AAC8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Navigate to </a:t>
            </a:r>
            <a:r>
              <a:rPr lang="en-AU" dirty="0">
                <a:hlinkClick r:id="rId2"/>
              </a:rPr>
              <a:t>https://github.com/codenetwork/git-101-2026</a:t>
            </a:r>
            <a:endParaRPr lang="en-AU" dirty="0"/>
          </a:p>
          <a:p>
            <a:r>
              <a:rPr lang="en-AU" dirty="0"/>
              <a:t>Read the instructions and set up your Git</a:t>
            </a:r>
          </a:p>
          <a:p>
            <a:r>
              <a:rPr lang="en-AU" dirty="0"/>
              <a:t>Fork the repo, then clone your own forked repo</a:t>
            </a:r>
          </a:p>
          <a:p>
            <a:r>
              <a:rPr lang="en-AU" dirty="0"/>
              <a:t>Add your name to </a:t>
            </a:r>
            <a:r>
              <a:rPr lang="en-AU" dirty="0" err="1"/>
              <a:t>Program.cs</a:t>
            </a:r>
            <a:r>
              <a:rPr lang="en-AU" dirty="0"/>
              <a:t>, add to stage, commit, and push</a:t>
            </a:r>
          </a:p>
          <a:p>
            <a:r>
              <a:rPr lang="en-AU" dirty="0"/>
              <a:t>Create a pull request to the original repo</a:t>
            </a:r>
          </a:p>
          <a:p>
            <a:r>
              <a:rPr lang="en-AU" dirty="0"/>
              <a:t>Put your hand up and a facilitator will help merge it! </a:t>
            </a:r>
          </a:p>
          <a:p>
            <a:r>
              <a:rPr lang="en-AU" dirty="0"/>
              <a:t>See the results: </a:t>
            </a:r>
            <a:r>
              <a:rPr lang="en-AU" dirty="0">
                <a:hlinkClick r:id="rId3"/>
              </a:rPr>
              <a:t>https://codenetwork.github.io/git-101-2026/</a:t>
            </a:r>
            <a:endParaRPr lang="en-AU" dirty="0"/>
          </a:p>
        </p:txBody>
      </p:sp>
      <p:pic>
        <p:nvPicPr>
          <p:cNvPr id="7170" name="Picture 2" descr="QR Code Image">
            <a:extLst>
              <a:ext uri="{FF2B5EF4-FFF2-40B4-BE49-F238E27FC236}">
                <a16:creationId xmlns:a16="http://schemas.microsoft.com/office/drawing/2014/main" id="{6868C12E-1C59-FE8D-72FC-B2E9B0049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102" y="4091439"/>
            <a:ext cx="2355690" cy="235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06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DE8C-E524-7A27-95FC-51643D14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Thank you for joining us!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F33A8-2A5B-8D20-31D9-FBFC0E9F5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AU" dirty="0"/>
              <a:t>We hope you enjoy collaborating on our projects!</a:t>
            </a:r>
          </a:p>
        </p:txBody>
      </p:sp>
    </p:spTree>
    <p:extLst>
      <p:ext uri="{BB962C8B-B14F-4D97-AF65-F5344CB8AC3E}">
        <p14:creationId xmlns:p14="http://schemas.microsoft.com/office/powerpoint/2010/main" val="357053850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133</TotalTime>
  <Words>585</Words>
  <Application>Microsoft Office PowerPoint</Application>
  <PresentationFormat>Widescreen</PresentationFormat>
  <Paragraphs>56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Century Gothic</vt:lpstr>
      <vt:lpstr>Vapor Trail</vt:lpstr>
      <vt:lpstr>Git 101</vt:lpstr>
      <vt:lpstr>agenda</vt:lpstr>
      <vt:lpstr>What is Git</vt:lpstr>
      <vt:lpstr>Git vs github/gitlab/bitbucket</vt:lpstr>
      <vt:lpstr>Local git operations</vt:lpstr>
      <vt:lpstr>Remote git operations</vt:lpstr>
      <vt:lpstr>Branching</vt:lpstr>
      <vt:lpstr>Forking</vt:lpstr>
      <vt:lpstr>Workshop</vt:lpstr>
      <vt:lpstr>Thank you for joining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Angus Wong</dc:creator>
  <cp:lastModifiedBy>Angus Wong</cp:lastModifiedBy>
  <cp:revision>2</cp:revision>
  <dcterms:created xsi:type="dcterms:W3CDTF">2026-02-28T02:51:47Z</dcterms:created>
  <dcterms:modified xsi:type="dcterms:W3CDTF">2026-02-28T05:05:12Z</dcterms:modified>
</cp:coreProperties>
</file>